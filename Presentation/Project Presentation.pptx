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irand Bold" panose="020B0604020202020204" charset="-34"/>
      <p:regular r:id="rId14"/>
    </p:embeddedFont>
    <p:embeddedFont>
      <p:font typeface="Nunito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4" d="100"/>
          <a:sy n="94" d="100"/>
        </p:scale>
        <p:origin x="1536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92504" y="-2406016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988716" y="3476801"/>
            <a:ext cx="14323715" cy="1973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23"/>
              </a:lnSpc>
            </a:pPr>
            <a:r>
              <a:rPr lang="en-US" sz="8800" b="1" dirty="0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University Management System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359304" y="488689"/>
            <a:ext cx="2513081" cy="251308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3399" y="7750763"/>
            <a:ext cx="1586288" cy="158628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40084" y="-5661115"/>
            <a:ext cx="14522629" cy="145226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384836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153796" y="6668639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83078" y="676275"/>
            <a:ext cx="8807832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24600" y="2663539"/>
            <a:ext cx="9667077" cy="3685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The university needs a centralized system to manage: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Students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Professors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Courses &amp; Enrollment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Departments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Student Clubs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Books &amp; Borrowing</a:t>
            </a:r>
          </a:p>
          <a:p>
            <a:pPr algn="ctr">
              <a:lnSpc>
                <a:spcPts val="3640"/>
              </a:lnSpc>
            </a:pPr>
            <a:r>
              <a:rPr lang="en-US" sz="2800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- Projects &amp; Collaboration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5194" y="-1345629"/>
            <a:ext cx="3517329" cy="351732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29662" y="7824967"/>
            <a:ext cx="8028675" cy="802867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3276242" y="-767852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04697" y="3119120"/>
            <a:ext cx="580876" cy="58087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74035" y="3119120"/>
            <a:ext cx="580876" cy="58087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67776" y="60611"/>
            <a:ext cx="17352447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BUSINESS REQUIREMENTS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6241" y="4195519"/>
            <a:ext cx="16274775" cy="327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Unique IDs for all main entities (Student, Professor, Course, Dept., Book, Club, Project)</a:t>
            </a:r>
          </a:p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Students may enroll in multiple courses</a:t>
            </a:r>
          </a:p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Professors belong to one department &amp; may supervise or advise students</a:t>
            </a:r>
          </a:p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Students may join clubs (optional)</a:t>
            </a:r>
          </a:p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Students can borrow books from the library</a:t>
            </a:r>
          </a:p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Projects require collaboration among students, professors, and departments</a:t>
            </a:r>
          </a:p>
          <a:p>
            <a:pPr marL="506290" lvl="1" indent="-253145" algn="l">
              <a:lnSpc>
                <a:spcPts val="3283"/>
              </a:lnSpc>
              <a:buFont typeface="Arial"/>
              <a:buChar char="•"/>
            </a:pPr>
            <a:r>
              <a:rPr lang="en-US" sz="2345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has multi-valued attributes (phone numbers)</a:t>
            </a:r>
          </a:p>
          <a:p>
            <a:pPr algn="l">
              <a:lnSpc>
                <a:spcPts val="3283"/>
              </a:lnSpc>
            </a:pPr>
            <a:endParaRPr lang="en-US" sz="2345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13117" y="2304447"/>
            <a:ext cx="9534032" cy="418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Department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Course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Book &amp; Library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Club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Project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Academic Advisor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6566" y="337967"/>
            <a:ext cx="8774868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MAIN 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7132" y="2314329"/>
            <a:ext cx="7103085" cy="418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5714" lvl="1"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Attributes: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ID (PK)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Name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Email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Date of Birth → used to calculate Age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Phone Number (multi-valued)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University ID Card (Card Number, Issue Date)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6566" y="337967"/>
            <a:ext cx="8774868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STUDENT ENTITY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80217" y="2281659"/>
            <a:ext cx="7103085" cy="313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Relationships</a:t>
            </a: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Enrolls in Course (M:N)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Borrows Books (1:M)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Joins Clubs (M:N)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Participates in Projects (via Collaboration)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7132" y="2314329"/>
            <a:ext cx="7103085" cy="155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 Attributes: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Prof_ID</a:t>
            </a: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(PK)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0933" y="337967"/>
            <a:ext cx="13073494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PROFESSOR &amp; DEPARTMENT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24163" y="2314329"/>
            <a:ext cx="7103085" cy="471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Relationships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 assigned to Department (1:N)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Department supervised by Professor (1:1 mandatory)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 advises Student (1:N)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 responsible for Course (1:N or N:M depending on your ERD)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 supervises Projects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220" y="4848267"/>
            <a:ext cx="7103085" cy="155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Department Attributes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Dept_ID</a:t>
            </a: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(PK)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Dept_Name</a:t>
            </a: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7132" y="2314329"/>
            <a:ext cx="7103085" cy="155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Course Attributes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Course_ID</a:t>
            </a: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Course 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0933" y="337967"/>
            <a:ext cx="13073494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COURSES &amp; ENROLLMENT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24163" y="2314329"/>
            <a:ext cx="7103085" cy="471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Enrollment Relationship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↔ Course is Many-to-Many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Relationship captures:</a:t>
            </a:r>
          </a:p>
          <a:p>
            <a:pPr marL="1262858" lvl="2" indent="-420953" algn="l">
              <a:lnSpc>
                <a:spcPts val="4094"/>
              </a:lnSpc>
              <a:buFont typeface="Arial"/>
              <a:buChar char="⚬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Grades</a:t>
            </a:r>
          </a:p>
          <a:p>
            <a:pPr marL="1262858" lvl="2" indent="-420953" algn="l">
              <a:lnSpc>
                <a:spcPts val="4094"/>
              </a:lnSpc>
              <a:buFont typeface="Arial"/>
              <a:buChar char="⚬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Semester (if planned)</a:t>
            </a:r>
          </a:p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Course Responsibility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 ↔ Course</a:t>
            </a:r>
          </a:p>
          <a:p>
            <a:pPr algn="l">
              <a:lnSpc>
                <a:spcPts val="4094"/>
              </a:lnSpc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(your ERD shows “responsible” relationship, possibly M:N)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220" y="4848267"/>
            <a:ext cx="7103085" cy="155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Department Attributes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Dept_ID</a:t>
            </a: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(PK)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Dept_Name</a:t>
            </a: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7132" y="2314329"/>
            <a:ext cx="7103085" cy="261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Book Attributes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Book_ID</a:t>
            </a: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Book Title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Author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Library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3531" y="337967"/>
            <a:ext cx="14209913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LIBRARY &amp; BOOK BORROWING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24163" y="2314329"/>
            <a:ext cx="7103085" cy="20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Borrow Relationship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borrows Book (1 Student → N Borrow records)</a:t>
            </a:r>
          </a:p>
          <a:p>
            <a:pPr algn="l">
              <a:lnSpc>
                <a:spcPts val="4094"/>
              </a:lnSpc>
            </a:pP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7132" y="2314329"/>
            <a:ext cx="7103085" cy="155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Club Attributes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Club_ID</a:t>
            </a: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Club 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3531" y="337967"/>
            <a:ext cx="14209913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STUDENT CLUBS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24163" y="2268666"/>
            <a:ext cx="7103085" cy="261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Join Relationship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 ↔ Club is M:N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Not mandatory for all students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Clubs may have zero members</a:t>
            </a:r>
          </a:p>
          <a:p>
            <a:pPr algn="l">
              <a:lnSpc>
                <a:spcPts val="4094"/>
              </a:lnSpc>
            </a:pP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40915" y="2782952"/>
            <a:ext cx="7103085" cy="1558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Project Attributes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 err="1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Project_ID</a:t>
            </a: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Project 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22731" y="-166010"/>
            <a:ext cx="18110026" cy="270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RESEARCH PROJECTS &amp; COLLABORATION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24335" y="2782952"/>
            <a:ext cx="7103085" cy="261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 b="1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Collaboration Relationship Involves: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Student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Professor</a:t>
            </a:r>
          </a:p>
          <a:p>
            <a:pPr marL="631429" lvl="1" indent="-315715" algn="l">
              <a:lnSpc>
                <a:spcPts val="4094"/>
              </a:lnSpc>
              <a:buFont typeface="Arial"/>
              <a:buChar char="•"/>
            </a:pPr>
            <a:r>
              <a:rPr lang="en-US" sz="2924" dirty="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Department</a:t>
            </a:r>
          </a:p>
          <a:p>
            <a:pPr algn="l">
              <a:lnSpc>
                <a:spcPts val="4094"/>
              </a:lnSpc>
            </a:pPr>
            <a:endParaRPr lang="en-US" sz="2924" dirty="0">
              <a:solidFill>
                <a:srgbClr val="2E3A4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42612" y="394769"/>
            <a:ext cx="6880458" cy="688045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23108" y="2540483"/>
            <a:ext cx="3517329" cy="3517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557588" y="7275227"/>
            <a:ext cx="1586288" cy="158628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54216" y="1028700"/>
            <a:ext cx="13004017" cy="7721135"/>
          </a:xfrm>
          <a:custGeom>
            <a:avLst/>
            <a:gdLst/>
            <a:ahLst/>
            <a:cxnLst/>
            <a:rect l="l" t="t" r="r" b="b"/>
            <a:pathLst>
              <a:path w="13004017" h="7721135">
                <a:moveTo>
                  <a:pt x="0" y="0"/>
                </a:moveTo>
                <a:lnTo>
                  <a:pt x="13004016" y="0"/>
                </a:lnTo>
                <a:lnTo>
                  <a:pt x="13004016" y="7721135"/>
                </a:lnTo>
                <a:lnTo>
                  <a:pt x="0" y="7721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859185" y="8702210"/>
            <a:ext cx="10186238" cy="48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4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Entity-Relationship Diagram (ERD) — Final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322731" y="-166010"/>
            <a:ext cx="18110026" cy="143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1"/>
              </a:lnSpc>
            </a:pPr>
            <a:r>
              <a:rPr lang="en-US" sz="7158" b="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FULL ERD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D1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1965" y="-2876710"/>
            <a:ext cx="16040420" cy="1604042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1909" y="2963670"/>
            <a:ext cx="7864182" cy="462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1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076091" y="710993"/>
            <a:ext cx="2513081" cy="251308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w="38100" cap="flat">
            <a:solidFill>
              <a:srgbClr val="2E3A44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740932" y="6266276"/>
            <a:ext cx="1586288" cy="15862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399</Words>
  <Application>Microsoft Office PowerPoint</Application>
  <PresentationFormat>Custom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Nunito</vt:lpstr>
      <vt:lpstr>Arial</vt:lpstr>
      <vt:lpstr>Calibri</vt:lpstr>
      <vt:lpstr>Nirand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PC</dc:creator>
  <cp:lastModifiedBy>mohamed abd el-nasser</cp:lastModifiedBy>
  <cp:revision>6</cp:revision>
  <dcterms:created xsi:type="dcterms:W3CDTF">2006-08-16T00:00:00Z</dcterms:created>
  <dcterms:modified xsi:type="dcterms:W3CDTF">2026-10-28T09:03:06Z</dcterms:modified>
  <dc:identifier>DAG6wCrZydk</dc:identifier>
</cp:coreProperties>
</file>